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Detection Precision (%)</c:v>
                </c:pt>
              </c:strCache>
            </c:strRef>
          </c:tx>
          <c:spPr>
            <a:solidFill>
              <a:srgbClr val="0D7A5F"/>
            </a:solidFill>
          </c:spPr>
          <c:dLbls>
            <c:txPr>
              <a:bodyPr/>
              <a:lstStyle/>
              <a:p>
                <a:pPr>
                  <a:defRPr sz="1200" b="1">
                    <a:solidFill>
                      <a:srgbClr val="0F291E"/>
                    </a:solidFill>
                    <a:latin typeface="Inter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Generic YOLO (Lit.)</c:v>
                </c:pt>
                <c:pt idx="1">
                  <c:v>Static ViT (Lit.)</c:v>
                </c:pt>
                <c:pt idx="2">
                  <c:v>SerpentGuard Target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87.0</c:v>
                </c:pt>
                <c:pt idx="1">
                  <c:v>78.0</c:v>
                </c:pt>
                <c:pt idx="2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Fine-Grained Macro-F1 (%)</c:v>
                </c:pt>
              </c:strCache>
            </c:strRef>
          </c:tx>
          <c:spPr>
            <a:solidFill>
              <a:srgbClr val="B45309"/>
            </a:solidFill>
          </c:spPr>
          <c:dLbls>
            <c:txPr>
              <a:bodyPr/>
              <a:lstStyle/>
              <a:p>
                <a:pPr>
                  <a:defRPr sz="1200" b="1">
                    <a:solidFill>
                      <a:srgbClr val="0F291E"/>
                    </a:solidFill>
                    <a:latin typeface="Inter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Generic YOLO (Lit.)</c:v>
                </c:pt>
                <c:pt idx="1">
                  <c:v>Static ViT (Lit.)</c:v>
                </c:pt>
                <c:pt idx="2">
                  <c:v>SerpentGuard Target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72.0</c:v>
                </c:pt>
                <c:pt idx="1">
                  <c:v>86.0</c:v>
                </c:pt>
                <c:pt idx="2">
                  <c:v>88.0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5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Inter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6EE7B7"/>
                </a:solidFill>
                <a:latin typeface="Inter"/>
              </a:rPr>
              <a:t>GROUP 5 — DS &amp; AI LAB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2560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4400" b="1">
                <a:solidFill>
                  <a:srgbClr val="F0FDF4"/>
                </a:solidFill>
                <a:latin typeface="Inter Display"/>
              </a:rPr>
              <a:t>SerpentGuard AI: Snake Detection &amp; Classification</a:t>
            </a:r>
          </a:p>
          <a:p>
            <a:pPr algn="l"/>
            <a:r>
              <a:rPr sz="2000">
                <a:solidFill>
                  <a:srgbClr val="A7F3D0"/>
                </a:solidFill>
                <a:latin typeface="Inter"/>
              </a:rPr>
              <a:t>Calibrated Edge Vision, Live Video Tracking &amp; Grounded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E8F0"/>
                </a:solidFill>
                <a:latin typeface="Inter"/>
              </a:rPr>
              <a:t>Team Lead: Jayesh Bansal | Members: Vikas, Puneet Bajaj, Manas Rastogi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pe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1. BACKGROUND &amp; MOTIVATION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Why Snakes? Fine-Grained Field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Ecological &amp; Technical Imperatives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Real-World Urgency: </a:t>
            </a:r>
            <a:r>
              <a:rPr sz="1600">
                <a:solidFill>
                  <a:srgbClr val="335446"/>
                </a:solidFill>
                <a:latin typeface="Inter"/>
              </a:rPr>
              <a:t>Frequent encounters in farms, homes, and IIT Madras trigger panic and snake killings.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Fine-Grained Vision: </a:t>
            </a:r>
            <a:r>
              <a:rPr sz="1600">
                <a:solidFill>
                  <a:srgbClr val="335446"/>
                </a:solidFill>
                <a:latin typeface="Inter"/>
              </a:rPr>
              <a:t>Look-alike species share patterns; blur, low light, and occlusion break generic models.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Medical &amp; Safety Ethics: </a:t>
            </a:r>
            <a:r>
              <a:rPr sz="1600">
                <a:solidFill>
                  <a:srgbClr val="335446"/>
                </a:solidFill>
                <a:latin typeface="Inter"/>
              </a:rPr>
              <a:t>Supports conservation and safe distance while never delaying urgent hospital care.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2  |  SerpentGuard AI: Motivation &amp; Fine-Grained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pe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6446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2. PRIMARY DIFFERENTIATOR BEYOND IMAGE UPLOAD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Live Camera Feed &amp; Edge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46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Live Video Pipeline From Day One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Continuous Camera Feed: </a:t>
            </a:r>
            <a:r>
              <a:rPr sz="1600">
                <a:solidFill>
                  <a:srgbClr val="335446"/>
                </a:solidFill>
                <a:latin typeface="Inter"/>
              </a:rPr>
              <a:t>Real-time YOLO bounding-box tracking locates moving snakes without manual uploads.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Calibrated Abstention: </a:t>
            </a:r>
            <a:r>
              <a:rPr sz="1600">
                <a:solidFill>
                  <a:srgbClr val="335446"/>
                </a:solidFill>
                <a:latin typeface="Inter"/>
              </a:rPr>
              <a:t>Confidence thresholds flag ambiguous frames instead of forcing risky top-1 guesses.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Safety-First Guidance: </a:t>
            </a:r>
            <a:r>
              <a:rPr sz="1600">
                <a:solidFill>
                  <a:srgbClr val="335446"/>
                </a:solidFill>
                <a:latin typeface="Inter"/>
              </a:rPr>
              <a:t>Advises safe distance and local rescuers; never declares an area clear on missed views.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6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3  |  Novel Scope: Real-Time Video Tracking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3. COMPARISON WITH EXISTING ALTERNATIVES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How SerpentGuard AI Outperforms Cloud Search &amp; Live LLMs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6984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103120"/>
                <a:gridCol w="2103120"/>
                <a:gridCol w="2377440"/>
              </a:tblGrid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Capability</a:t>
                      </a:r>
                    </a:p>
                  </a:txBody>
                  <a:tcPr anchor="ctr" marL="109728" marR="109728" marT="73152" marB="73152">
                    <a:solidFill>
                      <a:srgbClr val="062C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Google Search / Lens</a:t>
                      </a:r>
                    </a:p>
                  </a:txBody>
                  <a:tcPr anchor="ctr" marL="109728" marR="109728" marT="73152" marB="73152">
                    <a:solidFill>
                      <a:srgbClr val="062C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Gemini / ChatGPT Live</a:t>
                      </a:r>
                    </a:p>
                  </a:txBody>
                  <a:tcPr anchor="ctr" marL="109728" marR="109728" marT="73152" marB="73152">
                    <a:solidFill>
                      <a:srgbClr val="062C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Direct Cloud LLMs</a:t>
                      </a:r>
                    </a:p>
                  </a:txBody>
                  <a:tcPr anchor="ctr" marL="109728" marR="109728" marT="73152" marB="73152">
                    <a:solidFill>
                      <a:srgbClr val="062C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0FDF4"/>
                          </a:solidFill>
                          <a:latin typeface="Inter Display"/>
                        </a:rPr>
                        <a:t>SerpentGuard AI (Ours)</a:t>
                      </a:r>
                    </a:p>
                  </a:txBody>
                  <a:tcPr anchor="ctr" marL="109728" marR="109728" marT="73152" marB="73152">
                    <a:solidFill>
                      <a:srgbClr val="0D7A5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Primary Input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Static image upload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Cloud video streaming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Static prompt &amp; image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Real-time local camera feed</a:t>
                      </a:r>
                    </a:p>
                  </a:txBody>
                  <a:tcPr anchor="ctr" marL="109728" marR="109728" marT="73152" marB="73152">
                    <a:solidFill>
                      <a:srgbClr val="E6F4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Rural Offline Use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Fails without internet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Requires high bandwidth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100% API dependent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Dedicated offline edge model</a:t>
                      </a:r>
                    </a:p>
                  </a:txBody>
                  <a:tcPr anchor="ctr" marL="109728" marR="109728" marT="73152" marB="73152">
                    <a:solidFill>
                      <a:srgbClr val="E6F4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Fine-Grained Focus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Unverified web links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Generalist visual prior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Prone to hallucination</a:t>
                      </a:r>
                    </a:p>
                  </a:txBody>
                  <a:tcPr anchor="ctr" marL="109728" marR="109728" marT="73152" marB="73152">
                    <a:solidFill>
                      <a:srgbClr val="ED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Endemic species specialist</a:t>
                      </a:r>
                    </a:p>
                  </a:txBody>
                  <a:tcPr anchor="ctr" marL="109728" marR="109728" marT="73152" marB="73152">
                    <a:solidFill>
                      <a:srgbClr val="E6F4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Safety Abstention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Returns visual matches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Conversational guesses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5446"/>
                          </a:solidFill>
                          <a:latin typeface="Inter"/>
                        </a:rPr>
                        <a:t>Overconfident labels</a:t>
                      </a:r>
                    </a:p>
                  </a:txBody>
                  <a:tcPr anchor="ctr"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91E"/>
                          </a:solidFill>
                          <a:latin typeface="Inter"/>
                        </a:rPr>
                        <a:t>Calibrated uncertainty + KB</a:t>
                      </a:r>
                    </a:p>
                  </a:txBody>
                  <a:tcPr anchor="ctr" marL="109728" marR="109728" marT="73152" marB="73152"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4  |  Benchmark: Google Lens, Multimodal Live Assistants, Direct LLMs, and SerpentGuard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pe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4. ACADEMIC LITERATURE &amp; IMPLEMENTATION GAP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Beyond SnakeCLEF &amp; YOLO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What We Do Differently From Papers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SnakeCLEF (2021–2024): </a:t>
            </a:r>
            <a:r>
              <a:rPr sz="1600">
                <a:solidFill>
                  <a:srgbClr val="335446"/>
                </a:solidFill>
                <a:latin typeface="Inter"/>
              </a:rPr>
              <a:t>Server-heavy ViT ensembles classify static photos but lack live edge video speed.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Prior YOLO Studies (2024): </a:t>
            </a:r>
            <a:r>
              <a:rPr sz="1600">
                <a:solidFill>
                  <a:srgbClr val="335446"/>
                </a:solidFill>
                <a:latin typeface="Inter"/>
              </a:rPr>
              <a:t>Standard YOLOv8 papers (~87% precision) detect coarse classes without calibration.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Two-Stage Edge Novelty: </a:t>
            </a:r>
            <a:r>
              <a:rPr sz="1600">
                <a:solidFill>
                  <a:srgbClr val="335446"/>
                </a:solidFill>
                <a:latin typeface="Inter"/>
              </a:rPr>
              <a:t>Couples real-time occluded snake detection with calibrated fine-grained vision offline.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5  |  Sources: SnakeCLEF 2024, MDPI 2025, IIETA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5. SYSTEM ARCHITECTURE &amp; OFFLINE DEPLOYMENT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Dedicated Offline Edge Pipeline With Zero LLM API Reliance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1. Edge Detector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Quantized YOLO: </a:t>
            </a:r>
            <a:r>
              <a:rPr sz="1600">
                <a:solidFill>
                  <a:srgbClr val="335446"/>
                </a:solidFill>
                <a:latin typeface="Inter"/>
              </a:rPr>
              <a:t>Locates multiple or hidden snakes in live video.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ROI Tracking: </a:t>
            </a:r>
            <a:r>
              <a:rPr sz="1600">
                <a:solidFill>
                  <a:srgbClr val="335446"/>
                </a:solidFill>
                <a:latin typeface="Inter"/>
              </a:rPr>
              <a:t>Crops stable boxes across consecutive frames.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2. Classifier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LoRA Vision: </a:t>
            </a:r>
            <a:r>
              <a:rPr sz="1600">
                <a:solidFill>
                  <a:srgbClr val="335446"/>
                </a:solidFill>
                <a:latin typeface="Inter"/>
              </a:rPr>
              <a:t>Fine-tuned MobileViT for regional snake species.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Abstention Gate: </a:t>
            </a:r>
            <a:r>
              <a:rPr sz="1600">
                <a:solidFill>
                  <a:srgbClr val="335446"/>
                </a:solidFill>
                <a:latin typeface="Inter"/>
              </a:rPr>
              <a:t>Calibrated thresholds block blurry predictions.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332486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240280"/>
            <a:ext cx="2834640" cy="28676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3. Safety KB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No LLM APIs: </a:t>
            </a:r>
            <a:r>
              <a:rPr sz="1600">
                <a:solidFill>
                  <a:srgbClr val="335446"/>
                </a:solidFill>
                <a:latin typeface="Inter"/>
              </a:rPr>
              <a:t>Zero cloud latency, cost, or hallucination risk.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Local Lookup: </a:t>
            </a:r>
            <a:r>
              <a:rPr sz="1600">
                <a:solidFill>
                  <a:srgbClr val="335446"/>
                </a:solidFill>
                <a:latin typeface="Inter"/>
              </a:rPr>
              <a:t>Instant habitat, venom, and first-aid guidance.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6  |  Offline-First Architecture: Designed for Low-Connectivity Rural &amp; Campus Environments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6. APPLICATION UI MOCKUPS (REAL-TIME EDGE EXPERIENCE)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SerpentGuard AI Interface: Live Detection &amp; Abstention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267712"/>
            <a:ext cx="4608575" cy="34655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Screen A: High-Confidence Detection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Live ROI &amp; Top-3 Match: </a:t>
            </a:r>
            <a:r>
              <a:rPr sz="1600">
                <a:solidFill>
                  <a:srgbClr val="335446"/>
                </a:solidFill>
                <a:latin typeface="Inter"/>
              </a:rPr>
              <a:t>1. Spectacled Cobra (0.86) | 2. Rat Snake (0.09) | 3. Russell's Viper (0.03).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Visual &amp; Habitat Cues: </a:t>
            </a:r>
            <a:r>
              <a:rPr sz="1600">
                <a:solidFill>
                  <a:srgbClr val="335446"/>
                </a:solidFill>
                <a:latin typeface="Inter"/>
              </a:rPr>
              <a:t>Hood mark &amp; dorsal scales matched; offline regional KB verified.</a:t>
            </a:r>
          </a:p>
          <a:p>
            <a:pPr algn="l" marL="237744" indent="-237744">
              <a:spcAft>
                <a:spcPts val="10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Safety Quick Actions: </a:t>
            </a:r>
            <a:r>
              <a:rPr sz="1600">
                <a:solidFill>
                  <a:srgbClr val="335446"/>
                </a:solidFill>
                <a:latin typeface="Inter"/>
              </a:rPr>
              <a:t>[View Venom &amp; First-Aid Protocol] and [Call Local Rescuer].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201168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2267712"/>
            <a:ext cx="4608575" cy="34655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B45309"/>
                </a:solidFill>
                <a:latin typeface="Inter Display"/>
              </a:rPr>
              <a:t>Screen B: Uncertain / Abstain Alert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Abstention Triggered: </a:t>
            </a:r>
            <a:r>
              <a:rPr sz="1600">
                <a:solidFill>
                  <a:srgbClr val="335446"/>
                </a:solidFill>
                <a:latin typeface="Inter"/>
              </a:rPr>
              <a:t>Confidence below threshold due to motion blur or foliage occlusion.</a:t>
            </a:r>
          </a:p>
          <a:p>
            <a:pPr algn="l" marL="237744" indent="-237744">
              <a:spcAft>
                <a:spcPts val="14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Look-Alike Caution: </a:t>
            </a:r>
            <a:r>
              <a:rPr sz="1600">
                <a:solidFill>
                  <a:srgbClr val="335446"/>
                </a:solidFill>
                <a:latin typeface="Inter"/>
              </a:rPr>
              <a:t>Ambiguous match between Common Krait and harmless Wolf Snake.</a:t>
            </a:r>
          </a:p>
          <a:p>
            <a:pPr algn="l" marL="237744" indent="-237744">
              <a:spcAft>
                <a:spcPts val="10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Mandatory Safety Guard: </a:t>
            </a:r>
            <a:r>
              <a:rPr sz="1600">
                <a:solidFill>
                  <a:srgbClr val="335446"/>
                </a:solidFill>
                <a:latin typeface="Inter"/>
              </a:rPr>
              <a:t>Do not approach snake: [Keep Safe Distance] and [Emergency Guide].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7  |  SerpentGuard AI UI Mockups: Real-Time Bounding-Box Feed, Calibrated Top-3 &amp; Safe Abstention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pe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6446520" y="457200"/>
            <a:ext cx="512064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7. INVESTIGATING MODEL LIMITATIONS &amp; EDGE CASES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Testing Occlusion &amp;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46520" y="2011680"/>
            <a:ext cx="512064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Rigorous Evaluation Protocol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Look-Alike Confusion: </a:t>
            </a:r>
            <a:r>
              <a:rPr sz="1600">
                <a:solidFill>
                  <a:srgbClr val="335446"/>
                </a:solidFill>
                <a:latin typeface="Inter"/>
              </a:rPr>
              <a:t>Quantifies confusion matrices between venomous snakes (Krait, Cobra) and mimics.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Degraded Visibility: </a:t>
            </a:r>
            <a:r>
              <a:rPr sz="1600">
                <a:solidFill>
                  <a:srgbClr val="335446"/>
                </a:solidFill>
                <a:latin typeface="Inter"/>
              </a:rPr>
              <a:t>Measures recall drops under motion blur, night light, and 30–70% foliage occlusion.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Calibration Metrics: </a:t>
            </a:r>
            <a:r>
              <a:rPr sz="1600">
                <a:solidFill>
                  <a:srgbClr val="335446"/>
                </a:solidFill>
                <a:latin typeface="Inter"/>
              </a:rPr>
              <a:t>Evaluates macro-F1, per-species recall, and Expected Calibration Error (ECE).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6520" y="6355080"/>
            <a:ext cx="51206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8  |  Empirical Validation: Occlusion &amp; Calibration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7A5F"/>
                </a:solidFill>
                <a:latin typeface="Inter"/>
              </a:rPr>
              <a:t>8. FOCUSED ROADMAP &amp; QUANTITATIVE EVALUATION FRAMEWORK</a:t>
            </a:r>
          </a:p>
          <a:p>
            <a:pPr algn="l"/>
            <a:r>
              <a:rPr sz="3200" b="1">
                <a:solidFill>
                  <a:srgbClr val="0F291E"/>
                </a:solidFill>
                <a:latin typeface="Inter Display"/>
              </a:rPr>
              <a:t>Prioritizing Core Vision Innovation Over Feature Bloat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84632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D7A5F"/>
                </a:solidFill>
                <a:latin typeface="Inter Display"/>
              </a:rPr>
              <a:t>Streamlined Research Contributions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Core Vision First: </a:t>
            </a:r>
            <a:r>
              <a:rPr sz="1600">
                <a:solidFill>
                  <a:srgbClr val="335446"/>
                </a:solidFill>
                <a:latin typeface="Inter"/>
              </a:rPr>
              <a:t>Replaces generic voice/chatbot wrappers with real-time edge detection from Phase 1.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Measurable Gains: </a:t>
            </a:r>
            <a:r>
              <a:rPr sz="1600">
                <a:solidFill>
                  <a:srgbClr val="335446"/>
                </a:solidFill>
                <a:latin typeface="Inter"/>
              </a:rPr>
              <a:t>Benchmarks LoRA fine-tuning and two-stage cropping against single-stage baselines.</a:t>
            </a:r>
          </a:p>
          <a:p>
            <a:pPr algn="l" marL="237744" indent="-237744">
              <a:spcAft>
                <a:spcPts val="1600"/>
              </a:spcAft>
              <a:buFont typeface="Arial"/>
              <a:buChar char="•"/>
            </a:pPr>
            <a:r>
              <a:rPr sz="1800" b="1">
                <a:solidFill>
                  <a:srgbClr val="0F291E"/>
                </a:solidFill>
                <a:latin typeface="Inter"/>
              </a:rPr>
              <a:t>Safety Governance: </a:t>
            </a:r>
            <a:r>
              <a:rPr sz="1600">
                <a:solidFill>
                  <a:srgbClr val="335446"/>
                </a:solidFill>
                <a:latin typeface="Inter"/>
              </a:rPr>
              <a:t>Validates abstention accuracy so missed detections never imply a safe environment.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43600" y="2011680"/>
          <a:ext cx="54864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335446"/>
                </a:solidFill>
                <a:latin typeface="Inter"/>
              </a:rPr>
              <a:t>Slide 9  |  Baseline Reference: Prior YOLO Detection Precision (~87%, IIETA/IJERT) vs. Target Multi-Stage Evaluation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2560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>
                <a:solidFill>
                  <a:srgbClr val="F0FDF4"/>
                </a:solidFill>
                <a:latin typeface="Inter Display"/>
              </a:rPr>
              <a:t>Empowering Safe Coexistence Through Calibrated Edge AI.</a:t>
            </a:r>
          </a:p>
          <a:p>
            <a:pPr algn="l"/>
            <a:r>
              <a:rPr sz="1700">
                <a:solidFill>
                  <a:srgbClr val="6EE7B7"/>
                </a:solidFill>
                <a:latin typeface="Inter"/>
              </a:rPr>
              <a:t>SerpentGuard AI  |  Group 5 — DS &amp; AI Lab  |  Lead: Jayesh Bansal  |  Vikas, Puneet Bajaj, Manas Rastogi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