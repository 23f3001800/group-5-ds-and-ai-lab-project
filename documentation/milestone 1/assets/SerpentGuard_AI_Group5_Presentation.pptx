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66" r:id="rId17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Snake detection precision (%)</c:v>
                </c:pt>
              </c:strCache>
            </c:strRef>
          </c:tx>
          <c:spPr>
            <a:solidFill>
              <a:srgbClr val="0D7A5F"/>
            </a:solidFill>
          </c:spPr>
          <c:dLbls>
            <c:txPr>
              <a:bodyPr/>
              <a:lstStyle/>
              <a:p>
                <a:pPr>
                  <a:defRPr sz="1200" b="1">
                    <a:solidFill>
                      <a:srgbClr val="0F291E"/>
                    </a:solidFill>
                    <a:latin typeface="Inter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YOLO (Naresh 2024)</c:v>
                </c:pt>
                <c:pt idx="1">
                  <c:v>YOLOv8n (Najm 2025)</c:v>
                </c:pt>
                <c:pt idx="2">
                  <c:v>Global ViT (Bolon 2022)</c:v>
                </c:pt>
                <c:pt idx="3">
                  <c:v>Our M5 target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87.0</c:v>
                </c:pt>
                <c:pt idx="1">
                  <c:v>88.0</c:v>
                </c:pt>
                <c:pt idx="3">
                  <c:v>90.0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Species macro-F1 (%)</c:v>
                </c:pt>
              </c:strCache>
            </c:strRef>
          </c:tx>
          <c:spPr>
            <a:solidFill>
              <a:srgbClr val="B45309"/>
            </a:solidFill>
          </c:spPr>
          <c:dLbls>
            <c:txPr>
              <a:bodyPr/>
              <a:lstStyle/>
              <a:p>
                <a:pPr>
                  <a:defRPr sz="1200" b="1">
                    <a:solidFill>
                      <a:srgbClr val="0F291E"/>
                    </a:solidFill>
                    <a:latin typeface="Inter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YOLO (Naresh 2024)</c:v>
                </c:pt>
                <c:pt idx="1">
                  <c:v>YOLOv8n (Najm 2025)</c:v>
                </c:pt>
                <c:pt idx="2">
                  <c:v>Global ViT (Bolon 2022)</c:v>
                </c:pt>
                <c:pt idx="3">
                  <c:v>Our M5 target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2">
                  <c:v>92.2</c:v>
                </c:pt>
                <c:pt idx="3">
                  <c:v>80.0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>
                <a:latin typeface="Inter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>
                <a:latin typeface="Inter"/>
              </a:defRPr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300">
              <a:latin typeface="Inter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2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6EE7B7"/>
                </a:solidFill>
                <a:latin typeface="Inter"/>
              </a:rPr>
              <a:t>GROUP 5  |  DS &amp; AI LAB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698480" cy="2560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800"/>
              </a:spcAft>
            </a:pPr>
            <a:r>
              <a:rPr sz="4400" b="1">
                <a:solidFill>
                  <a:srgbClr val="F0FDF4"/>
                </a:solidFill>
                <a:latin typeface="Inter Display"/>
              </a:rPr>
              <a:t>SerpentGuard AI: Snake Detection &amp; Classification</a:t>
            </a:r>
          </a:p>
          <a:p>
            <a:pPr algn="l"/>
            <a:r>
              <a:rPr sz="2000">
                <a:solidFill>
                  <a:srgbClr val="A7F3D0"/>
                </a:solidFill>
                <a:latin typeface="Inter"/>
              </a:rPr>
              <a:t>Live Video Tracking, Calibrated Species ID and Offline Edge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8521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2E8F0"/>
                </a:solidFill>
                <a:latin typeface="Inter"/>
              </a:rPr>
              <a:t>Team Lead: Jayesh Bansal | Members: Vikas, Puneet Bajaj, Manas Rastogi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ropped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304" y="0"/>
            <a:ext cx="6095390" cy="6858000"/>
          </a:xfrm>
          <a:prstGeom prst="rect">
            <a:avLst/>
          </a:prstGeom>
          <a:ln>
            <a:noFill/>
          </a:ln>
        </p:spPr>
      </p:pic>
      <p:sp>
        <p:nvSpPr>
          <p:cNvPr id="3" name="TextBox 2"/>
          <p:cNvSpPr txBox="1"/>
          <p:nvPr/>
        </p:nvSpPr>
        <p:spPr>
          <a:xfrm>
            <a:off x="731520" y="457200"/>
            <a:ext cx="5120640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D7A5F"/>
                </a:solidFill>
                <a:latin typeface="Inter"/>
              </a:rPr>
              <a:t>1. BACKGROUND &amp; MOTIVATION</a:t>
            </a:r>
          </a:p>
          <a:p>
            <a:pPr algn="l"/>
            <a:r>
              <a:rPr sz="3200" b="1">
                <a:solidFill>
                  <a:srgbClr val="0F291E"/>
                </a:solidFill>
                <a:latin typeface="Inter Display"/>
              </a:rPr>
              <a:t>Why Snakes? Fine-Grained Field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5120640" cy="42062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600"/>
              </a:spcAft>
            </a:pPr>
            <a:r>
              <a:rPr sz="2200" b="1">
                <a:solidFill>
                  <a:srgbClr val="0D7A5F"/>
                </a:solidFill>
                <a:latin typeface="Inter Display"/>
              </a:rPr>
              <a:t>Why It Matters</a:t>
            </a:r>
          </a:p>
          <a:p>
            <a:pPr algn="l" marL="237744" indent="-237744">
              <a:spcAft>
                <a:spcPts val="1600"/>
              </a:spcAft>
              <a:buFont typeface="Arial"/>
              <a:buChar char="•"/>
            </a:pPr>
            <a:r>
              <a:rPr sz="1800" b="1">
                <a:solidFill>
                  <a:srgbClr val="0F291E"/>
                </a:solidFill>
                <a:latin typeface="Inter"/>
              </a:rPr>
              <a:t>Real-World Urgency: </a:t>
            </a:r>
            <a:r>
              <a:rPr sz="1600">
                <a:solidFill>
                  <a:srgbClr val="335446"/>
                </a:solidFill>
                <a:latin typeface="Inter"/>
              </a:rPr>
              <a:t>India had an estimated 46,000 snakebite deaths in 2005 (Million Death Study, cited by WHO 2016); encounters trigger panic and snake killings.</a:t>
            </a:r>
          </a:p>
          <a:p>
            <a:pPr algn="l" marL="237744" indent="-237744">
              <a:spcAft>
                <a:spcPts val="1600"/>
              </a:spcAft>
              <a:buFont typeface="Arial"/>
              <a:buChar char="•"/>
            </a:pPr>
            <a:r>
              <a:rPr sz="1800" b="1">
                <a:solidFill>
                  <a:srgbClr val="0F291E"/>
                </a:solidFill>
                <a:latin typeface="Inter"/>
              </a:rPr>
              <a:t>Fine-Grained Vision: </a:t>
            </a:r>
            <a:r>
              <a:rPr sz="1600">
                <a:solidFill>
                  <a:srgbClr val="335446"/>
                </a:solidFill>
                <a:latin typeface="Inter"/>
              </a:rPr>
              <a:t>Look-alike species share patterns; blur, low light, and occlusion break generic models.</a:t>
            </a:r>
          </a:p>
          <a:p>
            <a:pPr algn="l" marL="237744" indent="-237744">
              <a:spcAft>
                <a:spcPts val="1600"/>
              </a:spcAft>
              <a:buFont typeface="Arial"/>
              <a:buChar char="•"/>
            </a:pPr>
            <a:r>
              <a:rPr sz="1800" b="1">
                <a:solidFill>
                  <a:srgbClr val="0F291E"/>
                </a:solidFill>
                <a:latin typeface="Inter"/>
              </a:rPr>
              <a:t>Safety First: </a:t>
            </a:r>
            <a:r>
              <a:rPr sz="1600">
                <a:solidFill>
                  <a:srgbClr val="335446"/>
                </a:solidFill>
                <a:latin typeface="Inter"/>
              </a:rPr>
              <a:t>Encourages a safe distance and never replaces a trip to the hospital.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512064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>
                <a:solidFill>
                  <a:srgbClr val="335446"/>
                </a:solidFill>
                <a:latin typeface="Inter"/>
              </a:rPr>
              <a:t>Slide 2  |  SerpentGuard AI: Motivation &amp; Fine-Grained Scope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D7A5F"/>
                </a:solidFill>
                <a:latin typeface="Inter"/>
              </a:rPr>
              <a:t>2. SCOPE, STAKEHOLDERS &amp; MEASURABLE TARGETS</a:t>
            </a:r>
          </a:p>
          <a:p>
            <a:pPr algn="l"/>
            <a:r>
              <a:rPr sz="3200" b="1">
                <a:solidFill>
                  <a:srgbClr val="0F291E"/>
                </a:solidFill>
                <a:latin typeface="Inter Display"/>
              </a:rPr>
              <a:t>What We Build, For Whom, and How We Measure 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3291840" cy="3324860"/>
          </a:xfrm>
          <a:prstGeom prst="roundRect">
            <a:avLst>
              <a:gd name="adj" fmla="val 6000"/>
            </a:avLst>
          </a:prstGeom>
          <a:solidFill>
            <a:srgbClr val="E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240280"/>
            <a:ext cx="2834640" cy="28676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2200" b="1">
                <a:solidFill>
                  <a:srgbClr val="0D7A5F"/>
                </a:solidFill>
                <a:latin typeface="Inter Display"/>
              </a:rPr>
              <a:t>1. Scope</a:t>
            </a:r>
          </a:p>
          <a:p>
            <a:pPr algn="l" marL="237744" indent="-237744">
              <a:spcAft>
                <a:spcPts val="1400"/>
              </a:spcAft>
              <a:buFont typeface="Arial"/>
              <a:buChar char="•"/>
            </a:pPr>
            <a:r>
              <a:rPr sz="1800" b="1">
                <a:solidFill>
                  <a:srgbClr val="0F291E"/>
                </a:solidFill>
                <a:latin typeface="Inter"/>
              </a:rPr>
              <a:t>In Scope: </a:t>
            </a:r>
            <a:r>
              <a:rPr sz="1600">
                <a:solidFill>
                  <a:srgbClr val="335446"/>
                </a:solidFill>
                <a:latin typeface="Inter"/>
              </a:rPr>
              <a:t>27 Indian species incl. the Big Four; photos + live video.</a:t>
            </a:r>
          </a:p>
          <a:p>
            <a:pPr algn="l" marL="237744" indent="-237744">
              <a:spcAft>
                <a:spcPts val="1400"/>
              </a:spcAft>
              <a:buFont typeface="Arial"/>
              <a:buChar char="•"/>
            </a:pPr>
            <a:r>
              <a:rPr sz="1800" b="1">
                <a:solidFill>
                  <a:srgbClr val="0F291E"/>
                </a:solidFill>
                <a:latin typeface="Inter"/>
              </a:rPr>
              <a:t>Out of Scope: </a:t>
            </a:r>
            <a:r>
              <a:rPr sz="1600">
                <a:solidFill>
                  <a:srgbClr val="335446"/>
                </a:solidFill>
                <a:latin typeface="Inter"/>
              </a:rPr>
              <a:t>Other species shown as unknown; no bite diagnosis.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2011680"/>
            <a:ext cx="3291840" cy="3324860"/>
          </a:xfrm>
          <a:prstGeom prst="roundRect">
            <a:avLst>
              <a:gd name="adj" fmla="val 6000"/>
            </a:avLst>
          </a:prstGeom>
          <a:solidFill>
            <a:srgbClr val="E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2240280"/>
            <a:ext cx="2834640" cy="28676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2200" b="1">
                <a:solidFill>
                  <a:srgbClr val="0D7A5F"/>
                </a:solidFill>
                <a:latin typeface="Inter Display"/>
              </a:rPr>
              <a:t>2. Stakeholders</a:t>
            </a:r>
          </a:p>
          <a:p>
            <a:pPr algn="l" marL="237744" indent="-237744">
              <a:spcAft>
                <a:spcPts val="1400"/>
              </a:spcAft>
              <a:buFont typeface="Arial"/>
              <a:buChar char="•"/>
            </a:pPr>
            <a:r>
              <a:rPr sz="1800" b="1">
                <a:solidFill>
                  <a:srgbClr val="0F291E"/>
                </a:solidFill>
                <a:latin typeface="Inter"/>
              </a:rPr>
              <a:t>Users: </a:t>
            </a:r>
            <a:r>
              <a:rPr sz="1600">
                <a:solidFill>
                  <a:srgbClr val="335446"/>
                </a:solidFill>
                <a:latin typeface="Inter"/>
              </a:rPr>
              <a:t>Households, farmers, campus staff, snake rescuers.</a:t>
            </a:r>
          </a:p>
          <a:p>
            <a:pPr algn="l" marL="237744" indent="-237744">
              <a:spcAft>
                <a:spcPts val="1400"/>
              </a:spcAft>
              <a:buFont typeface="Arial"/>
              <a:buChar char="•"/>
            </a:pPr>
            <a:r>
              <a:rPr sz="1800" b="1">
                <a:solidFill>
                  <a:srgbClr val="0F291E"/>
                </a:solidFill>
                <a:latin typeface="Inter"/>
              </a:rPr>
              <a:t>Also: </a:t>
            </a:r>
            <a:r>
              <a:rPr sz="1600">
                <a:solidFill>
                  <a:srgbClr val="335446"/>
                </a:solidFill>
                <a:latin typeface="Inter"/>
              </a:rPr>
              <a:t>Forest dept., clinicians (education only), researchers.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2011680"/>
            <a:ext cx="3291840" cy="3324860"/>
          </a:xfrm>
          <a:prstGeom prst="roundRect">
            <a:avLst>
              <a:gd name="adj" fmla="val 6000"/>
            </a:avLst>
          </a:prstGeom>
          <a:solidFill>
            <a:srgbClr val="E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66760" y="2240280"/>
            <a:ext cx="2834640" cy="28676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2200" b="1">
                <a:solidFill>
                  <a:srgbClr val="0D7A5F"/>
                </a:solidFill>
                <a:latin typeface="Inter Display"/>
              </a:rPr>
              <a:t>3. Targets (M5)</a:t>
            </a:r>
          </a:p>
          <a:p>
            <a:pPr algn="l" marL="237744" indent="-237744">
              <a:spcAft>
                <a:spcPts val="1400"/>
              </a:spcAft>
              <a:buFont typeface="Arial"/>
              <a:buChar char="•"/>
            </a:pPr>
            <a:r>
              <a:rPr sz="1800" b="1">
                <a:solidFill>
                  <a:srgbClr val="0F291E"/>
                </a:solidFill>
                <a:latin typeface="Inter"/>
              </a:rPr>
              <a:t>Accuracy: </a:t>
            </a:r>
            <a:r>
              <a:rPr sz="1600">
                <a:solidFill>
                  <a:srgbClr val="335446"/>
                </a:solidFill>
                <a:latin typeface="Inter"/>
              </a:rPr>
              <a:t>Macro-F1 ≥ 0.80; top-3 ≥ 0.93; detector P and R ≥ 0.90.</a:t>
            </a:r>
          </a:p>
          <a:p>
            <a:pPr algn="l" marL="237744" indent="-237744">
              <a:spcAft>
                <a:spcPts val="1400"/>
              </a:spcAft>
              <a:buFont typeface="Arial"/>
              <a:buChar char="•"/>
            </a:pPr>
            <a:r>
              <a:rPr sz="1800" b="1">
                <a:solidFill>
                  <a:srgbClr val="0F291E"/>
                </a:solidFill>
                <a:latin typeface="Inter"/>
              </a:rPr>
              <a:t>Safety &amp; Speed: </a:t>
            </a:r>
            <a:r>
              <a:rPr sz="1600">
                <a:solidFill>
                  <a:srgbClr val="335446"/>
                </a:solidFill>
                <a:latin typeface="Inter"/>
              </a:rPr>
              <a:t>Dangerous-species recall ≥ 0.95; ECE ≤ 0.05; ≥ 10 FPS.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>
                <a:solidFill>
                  <a:srgbClr val="335446"/>
                </a:solidFill>
                <a:latin typeface="Inter"/>
              </a:rPr>
              <a:t>Slide 3  |  Targets are proposals until the Milestone 2 split exists; full list in the project report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ropped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95390" cy="6858000"/>
          </a:xfrm>
          <a:prstGeom prst="rect">
            <a:avLst/>
          </a:prstGeom>
          <a:ln>
            <a:noFill/>
          </a:ln>
        </p:spPr>
      </p:pic>
      <p:sp>
        <p:nvSpPr>
          <p:cNvPr id="3" name="TextBox 2"/>
          <p:cNvSpPr txBox="1"/>
          <p:nvPr/>
        </p:nvSpPr>
        <p:spPr>
          <a:xfrm>
            <a:off x="6446520" y="457200"/>
            <a:ext cx="5120640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D7A5F"/>
                </a:solidFill>
                <a:latin typeface="Inter"/>
              </a:rPr>
              <a:t>3. PRIMARY DIFFERENTIATOR BEYOND IMAGE UPLOAD</a:t>
            </a:r>
          </a:p>
          <a:p>
            <a:pPr algn="l"/>
            <a:r>
              <a:rPr sz="3200" b="1">
                <a:solidFill>
                  <a:srgbClr val="0F291E"/>
                </a:solidFill>
                <a:latin typeface="Inter Display"/>
              </a:rPr>
              <a:t>Live Camera Feed &amp; Edge Safety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46520" y="2011680"/>
            <a:ext cx="5120640" cy="42062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600"/>
              </a:spcAft>
            </a:pPr>
            <a:r>
              <a:rPr sz="2200" b="1">
                <a:solidFill>
                  <a:srgbClr val="0D7A5F"/>
                </a:solidFill>
                <a:latin typeface="Inter Display"/>
              </a:rPr>
              <a:t>Live Video = Frame-by-Frame Vision</a:t>
            </a:r>
          </a:p>
          <a:p>
            <a:pPr algn="l" marL="237744" indent="-237744">
              <a:spcAft>
                <a:spcPts val="1600"/>
              </a:spcAft>
              <a:buFont typeface="Arial"/>
              <a:buChar char="•"/>
            </a:pPr>
            <a:r>
              <a:rPr sz="1800" b="1">
                <a:solidFill>
                  <a:srgbClr val="0F291E"/>
                </a:solidFill>
                <a:latin typeface="Inter"/>
              </a:rPr>
              <a:t>Same Model, Every Frame: </a:t>
            </a:r>
            <a:r>
              <a:rPr sz="1600">
                <a:solidFill>
                  <a:srgbClr val="335446"/>
                </a:solidFill>
                <a:latin typeface="Inter"/>
              </a:rPr>
              <a:t>YOLO finds and tracks the snake; the photo classifier labels each tracked crop.</a:t>
            </a:r>
          </a:p>
          <a:p>
            <a:pPr algn="l" marL="237744" indent="-237744">
              <a:spcAft>
                <a:spcPts val="1600"/>
              </a:spcAft>
              <a:buFont typeface="Arial"/>
              <a:buChar char="•"/>
            </a:pPr>
            <a:r>
              <a:rPr sz="1800" b="1">
                <a:solidFill>
                  <a:srgbClr val="0F291E"/>
                </a:solidFill>
                <a:latin typeface="Inter"/>
              </a:rPr>
              <a:t>Calibrated Abstention: </a:t>
            </a:r>
            <a:r>
              <a:rPr sz="1600">
                <a:solidFill>
                  <a:srgbClr val="335446"/>
                </a:solidFill>
                <a:latin typeface="Inter"/>
              </a:rPr>
              <a:t>Confidence thresholds flag ambiguous frames instead of forcing risky top-1 guesses.</a:t>
            </a:r>
          </a:p>
          <a:p>
            <a:pPr algn="l" marL="237744" indent="-237744">
              <a:spcAft>
                <a:spcPts val="1600"/>
              </a:spcAft>
              <a:buFont typeface="Arial"/>
              <a:buChar char="•"/>
            </a:pPr>
            <a:r>
              <a:rPr sz="1800" b="1">
                <a:solidFill>
                  <a:srgbClr val="0F291E"/>
                </a:solidFill>
                <a:latin typeface="Inter"/>
              </a:rPr>
              <a:t>Safety-First Guidance: </a:t>
            </a:r>
            <a:r>
              <a:rPr sz="1600">
                <a:solidFill>
                  <a:srgbClr val="335446"/>
                </a:solidFill>
                <a:latin typeface="Inter"/>
              </a:rPr>
              <a:t>Advises safe distance and local rescuers; never declares an area clear on missed views.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46520" y="6355080"/>
            <a:ext cx="512064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>
                <a:solidFill>
                  <a:srgbClr val="335446"/>
                </a:solidFill>
                <a:latin typeface="Inter"/>
              </a:rPr>
              <a:t>Slide 4  |  Novel Scope: Real-Time Video Tracking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D7A5F"/>
                </a:solidFill>
                <a:latin typeface="Inter"/>
              </a:rPr>
              <a:t>4. COMPARISON WITH EXISTING ALTERNATIVES</a:t>
            </a:r>
          </a:p>
          <a:p>
            <a:pPr algn="l"/>
            <a:r>
              <a:rPr sz="3200" b="1">
                <a:solidFill>
                  <a:srgbClr val="0F291E"/>
                </a:solidFill>
                <a:latin typeface="Inter Display"/>
              </a:rPr>
              <a:t>How SerpentGuard AI Differs From Cloud Search &amp; Live LLMs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2011680"/>
          <a:ext cx="1069848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103120"/>
                <a:gridCol w="2103120"/>
                <a:gridCol w="2103120"/>
                <a:gridCol w="2377440"/>
              </a:tblGrid>
              <a:tr h="786384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0FDF4"/>
                          </a:solidFill>
                          <a:latin typeface="Inter Display"/>
                        </a:rPr>
                        <a:t>Capability</a:t>
                      </a:r>
                    </a:p>
                  </a:txBody>
                  <a:tcPr anchor="ctr" marL="109728" marR="109728" marT="73152" marB="73152">
                    <a:solidFill>
                      <a:srgbClr val="062C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0FDF4"/>
                          </a:solidFill>
                          <a:latin typeface="Inter Display"/>
                        </a:rPr>
                        <a:t>Google Search / Lens</a:t>
                      </a:r>
                    </a:p>
                  </a:txBody>
                  <a:tcPr anchor="ctr" marL="109728" marR="109728" marT="73152" marB="73152">
                    <a:solidFill>
                      <a:srgbClr val="062C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0FDF4"/>
                          </a:solidFill>
                          <a:latin typeface="Inter Display"/>
                        </a:rPr>
                        <a:t>Gemini / ChatGPT Live</a:t>
                      </a:r>
                    </a:p>
                  </a:txBody>
                  <a:tcPr anchor="ctr" marL="109728" marR="109728" marT="73152" marB="73152">
                    <a:solidFill>
                      <a:srgbClr val="062C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0FDF4"/>
                          </a:solidFill>
                          <a:latin typeface="Inter Display"/>
                        </a:rPr>
                        <a:t>Direct Cloud LLMs</a:t>
                      </a:r>
                    </a:p>
                  </a:txBody>
                  <a:tcPr anchor="ctr" marL="109728" marR="109728" marT="73152" marB="73152">
                    <a:solidFill>
                      <a:srgbClr val="062C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0FDF4"/>
                          </a:solidFill>
                          <a:latin typeface="Inter Display"/>
                        </a:rPr>
                        <a:t>SerpentGuard AI (Ours)</a:t>
                      </a:r>
                    </a:p>
                  </a:txBody>
                  <a:tcPr anchor="ctr" marL="109728" marR="109728" marT="73152" marB="73152">
                    <a:solidFill>
                      <a:srgbClr val="0D7A5F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F291E"/>
                          </a:solidFill>
                          <a:latin typeface="Inter"/>
                        </a:rPr>
                        <a:t>Primary Input</a:t>
                      </a:r>
                    </a:p>
                  </a:txBody>
                  <a:tcPr anchor="ctr" marL="109728" marR="109728" marT="73152" marB="73152">
                    <a:solidFill>
                      <a:srgbClr val="EDF7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5446"/>
                          </a:solidFill>
                          <a:latin typeface="Inter"/>
                        </a:rPr>
                        <a:t>Static image upload</a:t>
                      </a:r>
                    </a:p>
                  </a:txBody>
                  <a:tcPr anchor="ctr" marL="109728" marR="109728" marT="73152" marB="73152">
                    <a:solidFill>
                      <a:srgbClr val="EDF7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5446"/>
                          </a:solidFill>
                          <a:latin typeface="Inter"/>
                        </a:rPr>
                        <a:t>Cloud video streaming</a:t>
                      </a:r>
                    </a:p>
                  </a:txBody>
                  <a:tcPr anchor="ctr" marL="109728" marR="109728" marT="73152" marB="73152">
                    <a:solidFill>
                      <a:srgbClr val="EDF7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5446"/>
                          </a:solidFill>
                          <a:latin typeface="Inter"/>
                        </a:rPr>
                        <a:t>Static prompt &amp; image</a:t>
                      </a:r>
                    </a:p>
                  </a:txBody>
                  <a:tcPr anchor="ctr" marL="109728" marR="109728" marT="73152" marB="73152">
                    <a:solidFill>
                      <a:srgbClr val="EDF7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F291E"/>
                          </a:solidFill>
                          <a:latin typeface="Inter"/>
                        </a:rPr>
                        <a:t>Real-time local camera feed</a:t>
                      </a:r>
                    </a:p>
                  </a:txBody>
                  <a:tcPr anchor="ctr" marL="109728" marR="109728" marT="73152" marB="73152">
                    <a:solidFill>
                      <a:srgbClr val="E6F4F1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F291E"/>
                          </a:solidFill>
                          <a:latin typeface="Inter"/>
                        </a:rPr>
                        <a:t>Rural Offline Use</a:t>
                      </a:r>
                    </a:p>
                  </a:txBody>
                  <a:tcPr anchor="ctr"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5446"/>
                          </a:solidFill>
                          <a:latin typeface="Inter"/>
                        </a:rPr>
                        <a:t>Needs internet</a:t>
                      </a:r>
                    </a:p>
                  </a:txBody>
                  <a:tcPr anchor="ctr"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5446"/>
                          </a:solidFill>
                          <a:latin typeface="Inter"/>
                        </a:rPr>
                        <a:t>Needs a live connection</a:t>
                      </a:r>
                    </a:p>
                  </a:txBody>
                  <a:tcPr anchor="ctr"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5446"/>
                          </a:solidFill>
                          <a:latin typeface="Inter"/>
                        </a:rPr>
                        <a:t>Needs internet + API</a:t>
                      </a:r>
                    </a:p>
                  </a:txBody>
                  <a:tcPr anchor="ctr"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F291E"/>
                          </a:solidFill>
                          <a:latin typeface="Inter"/>
                        </a:rPr>
                        <a:t>Offline edge model (target)</a:t>
                      </a:r>
                    </a:p>
                  </a:txBody>
                  <a:tcPr anchor="ctr" marL="109728" marR="109728" marT="73152" marB="73152">
                    <a:solidFill>
                      <a:srgbClr val="E6F4F1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F291E"/>
                          </a:solidFill>
                          <a:latin typeface="Inter"/>
                        </a:rPr>
                        <a:t>Fine-Grained Focus</a:t>
                      </a:r>
                    </a:p>
                  </a:txBody>
                  <a:tcPr anchor="ctr" marL="109728" marR="109728" marT="73152" marB="73152">
                    <a:solidFill>
                      <a:srgbClr val="EDF7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5446"/>
                          </a:solidFill>
                          <a:latin typeface="Inter"/>
                        </a:rPr>
                        <a:t>General web matches</a:t>
                      </a:r>
                    </a:p>
                  </a:txBody>
                  <a:tcPr anchor="ctr" marL="109728" marR="109728" marT="73152" marB="73152">
                    <a:solidFill>
                      <a:srgbClr val="EDF7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5446"/>
                          </a:solidFill>
                          <a:latin typeface="Inter"/>
                        </a:rPr>
                        <a:t>Generalist visual prior</a:t>
                      </a:r>
                    </a:p>
                  </a:txBody>
                  <a:tcPr anchor="ctr" marL="109728" marR="109728" marT="73152" marB="73152">
                    <a:solidFill>
                      <a:srgbClr val="EDF7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5446"/>
                          </a:solidFill>
                          <a:latin typeface="Inter"/>
                        </a:rPr>
                        <a:t>Can sound sure when wrong</a:t>
                      </a:r>
                    </a:p>
                  </a:txBody>
                  <a:tcPr anchor="ctr" marL="109728" marR="109728" marT="73152" marB="73152">
                    <a:solidFill>
                      <a:srgbClr val="EDF7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F291E"/>
                          </a:solidFill>
                          <a:latin typeface="Inter"/>
                        </a:rPr>
                        <a:t>27 Indian species, fixed list</a:t>
                      </a:r>
                    </a:p>
                  </a:txBody>
                  <a:tcPr anchor="ctr" marL="109728" marR="109728" marT="73152" marB="73152">
                    <a:solidFill>
                      <a:srgbClr val="E6F4F1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F291E"/>
                          </a:solidFill>
                          <a:latin typeface="Inter"/>
                        </a:rPr>
                        <a:t>Safety Abstention</a:t>
                      </a:r>
                    </a:p>
                  </a:txBody>
                  <a:tcPr anchor="ctr"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5446"/>
                          </a:solidFill>
                          <a:latin typeface="Inter"/>
                        </a:rPr>
                        <a:t>Returns visual matches</a:t>
                      </a:r>
                    </a:p>
                  </a:txBody>
                  <a:tcPr anchor="ctr"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5446"/>
                          </a:solidFill>
                          <a:latin typeface="Inter"/>
                        </a:rPr>
                        <a:t>No measured abstention</a:t>
                      </a:r>
                    </a:p>
                  </a:txBody>
                  <a:tcPr anchor="ctr"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5446"/>
                          </a:solidFill>
                          <a:latin typeface="Inter"/>
                        </a:rPr>
                        <a:t>No calibrated confidence</a:t>
                      </a:r>
                    </a:p>
                  </a:txBody>
                  <a:tcPr anchor="ctr"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F291E"/>
                          </a:solidFill>
                          <a:latin typeface="Inter"/>
                        </a:rPr>
                        <a:t>Calibrated abstain + safety KB</a:t>
                      </a:r>
                    </a:p>
                  </a:txBody>
                  <a:tcPr anchor="ctr" marL="109728" marR="109728" marT="73152" marB="73152">
                    <a:solidFill>
                      <a:srgbClr val="E6F4F1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>
                <a:solidFill>
                  <a:srgbClr val="335446"/>
                </a:solidFill>
                <a:latin typeface="Inter"/>
              </a:rPr>
              <a:t>Slide 5  |  Design comparison, not yet measured: matched-image tests are planned for Milestone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ropped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304" y="0"/>
            <a:ext cx="6095390" cy="6858000"/>
          </a:xfrm>
          <a:prstGeom prst="rect">
            <a:avLst/>
          </a:prstGeom>
          <a:ln>
            <a:noFill/>
          </a:ln>
        </p:spPr>
      </p:pic>
      <p:sp>
        <p:nvSpPr>
          <p:cNvPr id="3" name="TextBox 2"/>
          <p:cNvSpPr txBox="1"/>
          <p:nvPr/>
        </p:nvSpPr>
        <p:spPr>
          <a:xfrm>
            <a:off x="731520" y="457200"/>
            <a:ext cx="5120640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D7A5F"/>
                </a:solidFill>
                <a:latin typeface="Inter"/>
              </a:rPr>
              <a:t>5. ACADEMIC LITERATURE &amp; IMPLEMENTATION GAP</a:t>
            </a:r>
          </a:p>
          <a:p>
            <a:pPr algn="l"/>
            <a:r>
              <a:rPr sz="3200" b="1">
                <a:solidFill>
                  <a:srgbClr val="0F291E"/>
                </a:solidFill>
                <a:latin typeface="Inter Display"/>
              </a:rPr>
              <a:t>Beyond SnakeCLEF &amp; YOLO Studies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5120640" cy="42062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600"/>
              </a:spcAft>
            </a:pPr>
            <a:r>
              <a:rPr sz="2200" b="1">
                <a:solidFill>
                  <a:srgbClr val="0D7A5F"/>
                </a:solidFill>
                <a:latin typeface="Inter Display"/>
              </a:rPr>
              <a:t>What We Do Differently From Papers</a:t>
            </a:r>
          </a:p>
          <a:p>
            <a:pPr algn="l" marL="237744" indent="-237744">
              <a:spcAft>
                <a:spcPts val="1600"/>
              </a:spcAft>
              <a:buFont typeface="Arial"/>
              <a:buChar char="•"/>
            </a:pPr>
            <a:r>
              <a:rPr sz="1800" b="1">
                <a:solidFill>
                  <a:srgbClr val="0F291E"/>
                </a:solidFill>
                <a:latin typeface="Inter"/>
              </a:rPr>
              <a:t>SnakeCLEF (2021-2024): </a:t>
            </a:r>
            <a:r>
              <a:rPr sz="1600">
                <a:solidFill>
                  <a:srgbClr val="335446"/>
                </a:solidFill>
                <a:latin typeface="Inter"/>
              </a:rPr>
              <a:t>Strong ViT/CNN models, evaluated on static photos; live on-device video is outside the benchmark.</a:t>
            </a:r>
          </a:p>
          <a:p>
            <a:pPr algn="l" marL="237744" indent="-237744">
              <a:spcAft>
                <a:spcPts val="1600"/>
              </a:spcAft>
              <a:buFont typeface="Arial"/>
              <a:buChar char="•"/>
            </a:pPr>
            <a:r>
              <a:rPr sz="1800" b="1">
                <a:solidFill>
                  <a:srgbClr val="0F291E"/>
                </a:solidFill>
                <a:latin typeface="Inter"/>
              </a:rPr>
              <a:t>Prior YOLO Studies (2024-25): </a:t>
            </a:r>
            <a:r>
              <a:rPr sz="1600">
                <a:solidFill>
                  <a:srgbClr val="335446"/>
                </a:solidFill>
                <a:latin typeface="Inter"/>
              </a:rPr>
              <a:t>Report 87-88% detection precision but no calibrated abstention.</a:t>
            </a:r>
          </a:p>
          <a:p>
            <a:pPr algn="l" marL="237744" indent="-237744">
              <a:spcAft>
                <a:spcPts val="1600"/>
              </a:spcAft>
              <a:buFont typeface="Arial"/>
              <a:buChar char="•"/>
            </a:pPr>
            <a:r>
              <a:rPr sz="1800" b="1">
                <a:solidFill>
                  <a:srgbClr val="0F291E"/>
                </a:solidFill>
                <a:latin typeface="Inter"/>
              </a:rPr>
              <a:t>Two-Stage Edge Design: </a:t>
            </a:r>
            <a:r>
              <a:rPr sz="1600">
                <a:solidFill>
                  <a:srgbClr val="335446"/>
                </a:solidFill>
                <a:latin typeface="Inter"/>
              </a:rPr>
              <a:t>Couples real-time snake detection with calibrated fine-grained classification, offline.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512064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>
                <a:solidFill>
                  <a:srgbClr val="335446"/>
                </a:solidFill>
                <a:latin typeface="Inter"/>
              </a:rPr>
              <a:t>Slide 6  |  Sources: SnakeCLEF 2024; Naresh 2024; Najm 2025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D7A5F"/>
                </a:solidFill>
                <a:latin typeface="Inter"/>
              </a:rPr>
              <a:t>6. SYSTEM ARCHITECTURE &amp; OFFLINE DEPLOYMENT</a:t>
            </a:r>
          </a:p>
          <a:p>
            <a:pPr algn="l"/>
            <a:r>
              <a:rPr sz="3200" b="1">
                <a:solidFill>
                  <a:srgbClr val="0F291E"/>
                </a:solidFill>
                <a:latin typeface="Inter Display"/>
              </a:rPr>
              <a:t>Offline Edge Pipeline With No LLM APIs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3291840" cy="3324860"/>
          </a:xfrm>
          <a:prstGeom prst="roundRect">
            <a:avLst>
              <a:gd name="adj" fmla="val 6000"/>
            </a:avLst>
          </a:prstGeom>
          <a:solidFill>
            <a:srgbClr val="E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240280"/>
            <a:ext cx="2834640" cy="28676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2200" b="1">
                <a:solidFill>
                  <a:srgbClr val="0D7A5F"/>
                </a:solidFill>
                <a:latin typeface="Inter Display"/>
              </a:rPr>
              <a:t>1. Edge Detector</a:t>
            </a:r>
          </a:p>
          <a:p>
            <a:pPr algn="l" marL="237744" indent="-237744">
              <a:spcAft>
                <a:spcPts val="1400"/>
              </a:spcAft>
              <a:buFont typeface="Arial"/>
              <a:buChar char="•"/>
            </a:pPr>
            <a:r>
              <a:rPr sz="1800" b="1">
                <a:solidFill>
                  <a:srgbClr val="0F291E"/>
                </a:solidFill>
                <a:latin typeface="Inter"/>
              </a:rPr>
              <a:t>YOLOv8n (int8): </a:t>
            </a:r>
            <a:r>
              <a:rPr sz="1600">
                <a:solidFill>
                  <a:srgbClr val="335446"/>
                </a:solidFill>
                <a:latin typeface="Inter"/>
              </a:rPr>
              <a:t>Finds snakes in every live video frame.</a:t>
            </a:r>
          </a:p>
          <a:p>
            <a:pPr algn="l" marL="237744" indent="-237744">
              <a:spcAft>
                <a:spcPts val="1400"/>
              </a:spcAft>
              <a:buFont typeface="Arial"/>
              <a:buChar char="•"/>
            </a:pPr>
            <a:r>
              <a:rPr sz="1800" b="1">
                <a:solidFill>
                  <a:srgbClr val="0F291E"/>
                </a:solidFill>
                <a:latin typeface="Inter"/>
              </a:rPr>
              <a:t>ByteTrack: </a:t>
            </a:r>
            <a:r>
              <a:rPr sz="1600">
                <a:solidFill>
                  <a:srgbClr val="335446"/>
                </a:solidFill>
                <a:latin typeface="Inter"/>
              </a:rPr>
              <a:t>Keeps one ID per snake across frames.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2011680"/>
            <a:ext cx="3291840" cy="3324860"/>
          </a:xfrm>
          <a:prstGeom prst="roundRect">
            <a:avLst>
              <a:gd name="adj" fmla="val 6000"/>
            </a:avLst>
          </a:prstGeom>
          <a:solidFill>
            <a:srgbClr val="E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2240280"/>
            <a:ext cx="2834640" cy="28676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2200" b="1">
                <a:solidFill>
                  <a:srgbClr val="0D7A5F"/>
                </a:solidFill>
                <a:latin typeface="Inter Display"/>
              </a:rPr>
              <a:t>2. Classifier</a:t>
            </a:r>
          </a:p>
          <a:p>
            <a:pPr algn="l" marL="237744" indent="-237744">
              <a:spcAft>
                <a:spcPts val="1400"/>
              </a:spcAft>
              <a:buFont typeface="Arial"/>
              <a:buChar char="•"/>
            </a:pPr>
            <a:r>
              <a:rPr sz="1800" b="1">
                <a:solidFill>
                  <a:srgbClr val="0F291E"/>
                </a:solidFill>
                <a:latin typeface="Inter"/>
              </a:rPr>
              <a:t>MobileViT: </a:t>
            </a:r>
            <a:r>
              <a:rPr sz="1600">
                <a:solidFill>
                  <a:srgbClr val="335446"/>
                </a:solidFill>
                <a:latin typeface="Inter"/>
              </a:rPr>
              <a:t>27 Indian species; full fine-tune vs LoRA.</a:t>
            </a:r>
          </a:p>
          <a:p>
            <a:pPr algn="l" marL="237744" indent="-237744">
              <a:spcAft>
                <a:spcPts val="1400"/>
              </a:spcAft>
              <a:buFont typeface="Arial"/>
              <a:buChar char="•"/>
            </a:pPr>
            <a:r>
              <a:rPr sz="1800" b="1">
                <a:solidFill>
                  <a:srgbClr val="0F291E"/>
                </a:solidFill>
                <a:latin typeface="Inter"/>
              </a:rPr>
              <a:t>Abstention Gate: </a:t>
            </a:r>
            <a:r>
              <a:rPr sz="1600">
                <a:solidFill>
                  <a:srgbClr val="335446"/>
                </a:solidFill>
                <a:latin typeface="Inter"/>
              </a:rPr>
              <a:t>Calibrated thresholds + voting over recent frames.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2011680"/>
            <a:ext cx="3291840" cy="3324860"/>
          </a:xfrm>
          <a:prstGeom prst="roundRect">
            <a:avLst>
              <a:gd name="adj" fmla="val 6000"/>
            </a:avLst>
          </a:prstGeom>
          <a:solidFill>
            <a:srgbClr val="E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66760" y="2240280"/>
            <a:ext cx="2834640" cy="28676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2200" b="1">
                <a:solidFill>
                  <a:srgbClr val="0D7A5F"/>
                </a:solidFill>
                <a:latin typeface="Inter Display"/>
              </a:rPr>
              <a:t>3. Safety KB</a:t>
            </a:r>
          </a:p>
          <a:p>
            <a:pPr algn="l" marL="237744" indent="-237744">
              <a:spcAft>
                <a:spcPts val="1400"/>
              </a:spcAft>
              <a:buFont typeface="Arial"/>
              <a:buChar char="•"/>
            </a:pPr>
            <a:r>
              <a:rPr sz="1800" b="1">
                <a:solidFill>
                  <a:srgbClr val="0F291E"/>
                </a:solidFill>
                <a:latin typeface="Inter"/>
              </a:rPr>
              <a:t>No LLM APIs: </a:t>
            </a:r>
            <a:r>
              <a:rPr sz="1600">
                <a:solidFill>
                  <a:srgbClr val="335446"/>
                </a:solidFill>
                <a:latin typeface="Inter"/>
              </a:rPr>
              <a:t>No cloud latency or cost; no generated text.</a:t>
            </a:r>
          </a:p>
          <a:p>
            <a:pPr algn="l" marL="237744" indent="-237744">
              <a:spcAft>
                <a:spcPts val="1400"/>
              </a:spcAft>
              <a:buFont typeface="Arial"/>
              <a:buChar char="•"/>
            </a:pPr>
            <a:r>
              <a:rPr sz="1800" b="1">
                <a:solidFill>
                  <a:srgbClr val="0F291E"/>
                </a:solidFill>
                <a:latin typeface="Inter"/>
              </a:rPr>
              <a:t>Local Lookup: </a:t>
            </a:r>
            <a:r>
              <a:rPr sz="1600">
                <a:solidFill>
                  <a:srgbClr val="335446"/>
                </a:solidFill>
                <a:latin typeface="Inter"/>
              </a:rPr>
              <a:t>Species facts + official first-aid text, verbatim.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>
                <a:solidFill>
                  <a:srgbClr val="335446"/>
                </a:solidFill>
                <a:latin typeface="Inter"/>
              </a:rPr>
              <a:t>Slide 7  |  Offline-First Architecture: Designed for Low-Connectivity Rural &amp; Campus Environments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D7A5F"/>
                </a:solidFill>
                <a:latin typeface="Inter"/>
              </a:rPr>
              <a:t>7. APPLICATION UI MOCKUPS (REAL-TIME EDGE EXPERIENCE)</a:t>
            </a:r>
          </a:p>
          <a:p>
            <a:pPr algn="l"/>
            <a:r>
              <a:rPr sz="3200" b="1">
                <a:solidFill>
                  <a:srgbClr val="0F291E"/>
                </a:solidFill>
                <a:latin typeface="Inter Display"/>
              </a:rPr>
              <a:t>SerpentGuard AI Interface: Live Detection &amp; Abstention UI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5120640" cy="3977639"/>
          </a:xfrm>
          <a:prstGeom prst="roundRect">
            <a:avLst>
              <a:gd name="adj" fmla="val 6000"/>
            </a:avLst>
          </a:prstGeom>
          <a:solidFill>
            <a:srgbClr val="E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2267712"/>
            <a:ext cx="4608575" cy="3465575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2200" b="1">
                <a:solidFill>
                  <a:srgbClr val="0D7A5F"/>
                </a:solidFill>
                <a:latin typeface="Inter Display"/>
              </a:rPr>
              <a:t>Screen A: High-Confidence Detection</a:t>
            </a:r>
          </a:p>
          <a:p>
            <a:pPr algn="l" marL="237744" indent="-237744">
              <a:spcAft>
                <a:spcPts val="1400"/>
              </a:spcAft>
              <a:buFont typeface="Arial"/>
              <a:buChar char="•"/>
            </a:pPr>
            <a:r>
              <a:rPr sz="1800" b="1">
                <a:solidFill>
                  <a:srgbClr val="0F291E"/>
                </a:solidFill>
                <a:latin typeface="Inter"/>
              </a:rPr>
              <a:t>Live ROI &amp; Top-3 Match: </a:t>
            </a:r>
            <a:r>
              <a:rPr sz="1600">
                <a:solidFill>
                  <a:srgbClr val="335446"/>
                </a:solidFill>
                <a:latin typeface="Inter"/>
              </a:rPr>
              <a:t>Illustrative: 1. Spectacled Cobra (0.86) | 2. Rat Snake (0.09) | 3. Russell's Viper (0.03).</a:t>
            </a:r>
          </a:p>
          <a:p>
            <a:pPr algn="l" marL="237744" indent="-237744">
              <a:spcAft>
                <a:spcPts val="1400"/>
              </a:spcAft>
              <a:buFont typeface="Arial"/>
              <a:buChar char="•"/>
            </a:pPr>
            <a:r>
              <a:rPr sz="1800" b="1">
                <a:solidFill>
                  <a:srgbClr val="0F291E"/>
                </a:solidFill>
                <a:latin typeface="Inter"/>
              </a:rPr>
              <a:t>Visual &amp; Habitat Cues: </a:t>
            </a:r>
            <a:r>
              <a:rPr sz="1600">
                <a:solidFill>
                  <a:srgbClr val="335446"/>
                </a:solidFill>
                <a:latin typeface="Inter"/>
              </a:rPr>
              <a:t>Hood mark &amp; dorsal pattern; facts from offline species KB.</a:t>
            </a:r>
          </a:p>
          <a:p>
            <a:pPr algn="l" marL="237744" indent="-237744">
              <a:spcAft>
                <a:spcPts val="1000"/>
              </a:spcAft>
              <a:buFont typeface="Arial"/>
              <a:buChar char="•"/>
            </a:pPr>
            <a:r>
              <a:rPr sz="1800" b="1">
                <a:solidFill>
                  <a:srgbClr val="0F291E"/>
                </a:solidFill>
                <a:latin typeface="Inter"/>
              </a:rPr>
              <a:t>Safety Quick Actions: </a:t>
            </a:r>
            <a:r>
              <a:rPr sz="1600">
                <a:solidFill>
                  <a:srgbClr val="335446"/>
                </a:solidFill>
                <a:latin typeface="Inter"/>
              </a:rPr>
              <a:t>[Official First-Aid Steps] and [Call Local Rescuer].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59" y="2011680"/>
            <a:ext cx="5120640" cy="3977639"/>
          </a:xfrm>
          <a:prstGeom prst="roundRect">
            <a:avLst>
              <a:gd name="adj" fmla="val 6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65392" y="2267712"/>
            <a:ext cx="4608575" cy="3465575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2200" b="1">
                <a:solidFill>
                  <a:srgbClr val="B45309"/>
                </a:solidFill>
                <a:latin typeface="Inter Display"/>
              </a:rPr>
              <a:t>Screen B: Uncertain / Abstain Alert</a:t>
            </a:r>
          </a:p>
          <a:p>
            <a:pPr algn="l" marL="237744" indent="-237744">
              <a:spcAft>
                <a:spcPts val="1400"/>
              </a:spcAft>
              <a:buFont typeface="Arial"/>
              <a:buChar char="•"/>
            </a:pPr>
            <a:r>
              <a:rPr sz="1800" b="1">
                <a:solidFill>
                  <a:srgbClr val="0F291E"/>
                </a:solidFill>
                <a:latin typeface="Inter"/>
              </a:rPr>
              <a:t>Abstention Triggered: </a:t>
            </a:r>
            <a:r>
              <a:rPr sz="1600">
                <a:solidFill>
                  <a:srgbClr val="335446"/>
                </a:solidFill>
                <a:latin typeface="Inter"/>
              </a:rPr>
              <a:t>Confidence below threshold due to motion blur or foliage occlusion.</a:t>
            </a:r>
          </a:p>
          <a:p>
            <a:pPr algn="l" marL="237744" indent="-237744">
              <a:spcAft>
                <a:spcPts val="1400"/>
              </a:spcAft>
              <a:buFont typeface="Arial"/>
              <a:buChar char="•"/>
            </a:pPr>
            <a:r>
              <a:rPr sz="1800" b="1">
                <a:solidFill>
                  <a:srgbClr val="0F291E"/>
                </a:solidFill>
                <a:latin typeface="Inter"/>
              </a:rPr>
              <a:t>Look-Alike Caution: </a:t>
            </a:r>
            <a:r>
              <a:rPr sz="1600">
                <a:solidFill>
                  <a:srgbClr val="335446"/>
                </a:solidFill>
                <a:latin typeface="Inter"/>
              </a:rPr>
              <a:t>Ambiguous match between Common Krait and harmless Wolf Snake.</a:t>
            </a:r>
          </a:p>
          <a:p>
            <a:pPr algn="l" marL="237744" indent="-237744">
              <a:spcAft>
                <a:spcPts val="1000"/>
              </a:spcAft>
              <a:buFont typeface="Arial"/>
              <a:buChar char="•"/>
            </a:pPr>
            <a:r>
              <a:rPr sz="1800" b="1">
                <a:solidFill>
                  <a:srgbClr val="0F291E"/>
                </a:solidFill>
                <a:latin typeface="Inter"/>
              </a:rPr>
              <a:t>Mandatory Safety Guard: </a:t>
            </a:r>
            <a:r>
              <a:rPr sz="1600">
                <a:solidFill>
                  <a:srgbClr val="335446"/>
                </a:solidFill>
                <a:latin typeface="Inter"/>
              </a:rPr>
              <a:t>Do not approach snake: [Keep Safe Distance] and [Emergency Guide].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>
                <a:solidFill>
                  <a:srgbClr val="335446"/>
                </a:solidFill>
                <a:latin typeface="Inter"/>
              </a:rPr>
              <a:t>Slide 8  |  UI Mockups (illustrative values): Live Bounding-Box Feed, Calibrated Top-3 &amp; Safe Abstention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ropped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95390" cy="6858000"/>
          </a:xfrm>
          <a:prstGeom prst="rect">
            <a:avLst/>
          </a:prstGeom>
          <a:ln>
            <a:noFill/>
          </a:ln>
        </p:spPr>
      </p:pic>
      <p:sp>
        <p:nvSpPr>
          <p:cNvPr id="3" name="TextBox 2"/>
          <p:cNvSpPr txBox="1"/>
          <p:nvPr/>
        </p:nvSpPr>
        <p:spPr>
          <a:xfrm>
            <a:off x="6446520" y="457200"/>
            <a:ext cx="5120640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D7A5F"/>
                </a:solidFill>
                <a:latin typeface="Inter"/>
              </a:rPr>
              <a:t>8. INVESTIGATING MODEL LIMITATIONS &amp; EDGE CASES</a:t>
            </a:r>
          </a:p>
          <a:p>
            <a:pPr algn="l"/>
            <a:r>
              <a:rPr sz="3200" b="1">
                <a:solidFill>
                  <a:srgbClr val="0F291E"/>
                </a:solidFill>
                <a:latin typeface="Inter Display"/>
              </a:rPr>
              <a:t>Testing Occlusion &amp; Calibration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46520" y="2011680"/>
            <a:ext cx="5120640" cy="42062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600"/>
              </a:spcAft>
            </a:pPr>
            <a:r>
              <a:rPr sz="2200" b="1">
                <a:solidFill>
                  <a:srgbClr val="0D7A5F"/>
                </a:solidFill>
                <a:latin typeface="Inter Display"/>
              </a:rPr>
              <a:t>Evaluation Protocol</a:t>
            </a:r>
          </a:p>
          <a:p>
            <a:pPr algn="l" marL="237744" indent="-237744">
              <a:spcAft>
                <a:spcPts val="1600"/>
              </a:spcAft>
              <a:buFont typeface="Arial"/>
              <a:buChar char="•"/>
            </a:pPr>
            <a:r>
              <a:rPr sz="1800" b="1">
                <a:solidFill>
                  <a:srgbClr val="0F291E"/>
                </a:solidFill>
                <a:latin typeface="Inter"/>
              </a:rPr>
              <a:t>Look-Alike Confusion: </a:t>
            </a:r>
            <a:r>
              <a:rPr sz="1600">
                <a:solidFill>
                  <a:srgbClr val="335446"/>
                </a:solidFill>
                <a:latin typeface="Inter"/>
              </a:rPr>
              <a:t>Quantifies confusion matrices between venomous snakes (Krait, Cobra) and mimics.</a:t>
            </a:r>
          </a:p>
          <a:p>
            <a:pPr algn="l" marL="237744" indent="-237744">
              <a:spcAft>
                <a:spcPts val="1600"/>
              </a:spcAft>
              <a:buFont typeface="Arial"/>
              <a:buChar char="•"/>
            </a:pPr>
            <a:r>
              <a:rPr sz="1800" b="1">
                <a:solidFill>
                  <a:srgbClr val="0F291E"/>
                </a:solidFill>
                <a:latin typeface="Inter"/>
              </a:rPr>
              <a:t>Degraded Visibility: </a:t>
            </a:r>
            <a:r>
              <a:rPr sz="1600">
                <a:solidFill>
                  <a:srgbClr val="335446"/>
                </a:solidFill>
                <a:latin typeface="Inter"/>
              </a:rPr>
              <a:t>Measures recall drops under motion blur, night light, and synthetic 30-70% occlusion.</a:t>
            </a:r>
          </a:p>
          <a:p>
            <a:pPr algn="l" marL="237744" indent="-237744">
              <a:spcAft>
                <a:spcPts val="1600"/>
              </a:spcAft>
              <a:buFont typeface="Arial"/>
              <a:buChar char="•"/>
            </a:pPr>
            <a:r>
              <a:rPr sz="1800" b="1">
                <a:solidFill>
                  <a:srgbClr val="0F291E"/>
                </a:solidFill>
                <a:latin typeface="Inter"/>
              </a:rPr>
              <a:t>Calibration Metrics: </a:t>
            </a:r>
            <a:r>
              <a:rPr sz="1600">
                <a:solidFill>
                  <a:srgbClr val="335446"/>
                </a:solidFill>
                <a:latin typeface="Inter"/>
              </a:rPr>
              <a:t>Evaluates macro-F1, per-species recall, and Expected Calibration Error (ECE).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46520" y="6355080"/>
            <a:ext cx="512064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>
                <a:solidFill>
                  <a:srgbClr val="335446"/>
                </a:solidFill>
                <a:latin typeface="Inter"/>
              </a:rPr>
              <a:t>Slide 9  |  Empirical Validation: Occlusion &amp; Calibration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D7A5F"/>
                </a:solidFill>
                <a:latin typeface="Inter"/>
              </a:rPr>
              <a:t>9. ROADMAP &amp; EVALUATION TARGETS</a:t>
            </a:r>
          </a:p>
          <a:p>
            <a:pPr algn="l"/>
            <a:r>
              <a:rPr sz="3200" b="1">
                <a:solidFill>
                  <a:srgbClr val="0F291E"/>
                </a:solidFill>
                <a:latin typeface="Inter Display"/>
              </a:rPr>
              <a:t>Build the Vision Pipeline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4846320" cy="42062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600"/>
              </a:spcAft>
            </a:pPr>
            <a:r>
              <a:rPr sz="2200" b="1">
                <a:solidFill>
                  <a:srgbClr val="0D7A5F"/>
                </a:solidFill>
                <a:latin typeface="Inter Display"/>
              </a:rPr>
              <a:t>Research Contributions</a:t>
            </a:r>
          </a:p>
          <a:p>
            <a:pPr algn="l" marL="237744" indent="-237744">
              <a:spcAft>
                <a:spcPts val="1600"/>
              </a:spcAft>
              <a:buFont typeface="Arial"/>
              <a:buChar char="•"/>
            </a:pPr>
            <a:r>
              <a:rPr sz="1800" b="1">
                <a:solidFill>
                  <a:srgbClr val="0F291E"/>
                </a:solidFill>
                <a:latin typeface="Inter"/>
              </a:rPr>
              <a:t>Core Vision First: </a:t>
            </a:r>
            <a:r>
              <a:rPr sz="1600">
                <a:solidFill>
                  <a:srgbClr val="335446"/>
                </a:solidFill>
                <a:latin typeface="Inter"/>
              </a:rPr>
              <a:t>The live frame-by-frame pipeline runs end-to-end on a data subset at Milestone 3.</a:t>
            </a:r>
          </a:p>
          <a:p>
            <a:pPr algn="l" marL="237744" indent="-237744">
              <a:spcAft>
                <a:spcPts val="1600"/>
              </a:spcAft>
              <a:buFont typeface="Arial"/>
              <a:buChar char="•"/>
            </a:pPr>
            <a:r>
              <a:rPr sz="1800" b="1">
                <a:solidFill>
                  <a:srgbClr val="0F291E"/>
                </a:solidFill>
                <a:latin typeface="Inter"/>
              </a:rPr>
              <a:t>Measurable Gains: </a:t>
            </a:r>
            <a:r>
              <a:rPr sz="1600">
                <a:solidFill>
                  <a:srgbClr val="335446"/>
                </a:solidFill>
                <a:latin typeface="Inter"/>
              </a:rPr>
              <a:t>Benchmarks LoRA fine-tuning and two-stage cropping against single-stage baselines.</a:t>
            </a:r>
          </a:p>
          <a:p>
            <a:pPr algn="l" marL="237744" indent="-237744">
              <a:spcAft>
                <a:spcPts val="1600"/>
              </a:spcAft>
              <a:buFont typeface="Arial"/>
              <a:buChar char="•"/>
            </a:pPr>
            <a:r>
              <a:rPr sz="1800" b="1">
                <a:solidFill>
                  <a:srgbClr val="0F291E"/>
                </a:solidFill>
                <a:latin typeface="Inter"/>
              </a:rPr>
              <a:t>Safety Governance: </a:t>
            </a:r>
            <a:r>
              <a:rPr sz="1600">
                <a:solidFill>
                  <a:srgbClr val="335446"/>
                </a:solidFill>
                <a:latin typeface="Inter"/>
              </a:rPr>
              <a:t>Validates abstention accuracy so missed detections never imply a safe environment.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943600" y="2011680"/>
          <a:ext cx="548640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>
                <a:solidFill>
                  <a:srgbClr val="335446"/>
                </a:solidFill>
                <a:latin typeface="Inter"/>
              </a:rPr>
              <a:t>Slide 10  |  Literature: Naresh 2024, Najm 2025, Bolon 2022 (different datasets) vs. our Milestone 5 targets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2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698480" cy="2560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800"/>
              </a:spcAft>
            </a:pPr>
            <a:r>
              <a:rPr sz="4000" b="1">
                <a:solidFill>
                  <a:srgbClr val="F0FDF4"/>
                </a:solidFill>
                <a:latin typeface="Inter Display"/>
              </a:rPr>
              <a:t>Thank You. Questions?</a:t>
            </a:r>
          </a:p>
          <a:p>
            <a:pPr algn="l"/>
            <a:r>
              <a:rPr sz="1700">
                <a:solidFill>
                  <a:srgbClr val="6EE7B7"/>
                </a:solidFill>
                <a:latin typeface="Inter"/>
              </a:rPr>
              <a:t>SerpentGuard AI  |  Group 5, DS &amp; AI Lab  |  Lead: Jayesh Bansal  |  Vikas, Puneet Bajaj, Manas Rastogi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